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2344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4600">
                <a:solidFill>
                  <a:srgbClr val="162D4E"/>
                </a:solidFill>
              </a:defRPr>
            </a:pPr>
            <a:r>
              <a:t>DeepHAR-MLOps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22402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2C72B6"/>
                </a:solidFill>
              </a:defRPr>
            </a:pPr>
            <a:r>
              <a:t>Foundation-Model-Inspired Human Activity Recognition with Prompted Explanations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315468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82828"/>
                </a:solidFill>
              </a:defRPr>
            </a:pPr>
            <a:r>
              <a:t>Vineeth Chandra Sai Kandukuri | Siddharth Rao Kartik | Arshan Bhanage | Soham Jain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D2DC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978"/>
                </a:solidFill>
              </a:defRPr>
            </a:pPr>
            <a:r>
              <a:t>DeepHAR-MLOps | CMPE Project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62D4E"/>
                </a:solidFill>
              </a:defRPr>
            </a:pPr>
            <a:r>
              <a:t>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D2DC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978"/>
                </a:solidFill>
              </a:defRPr>
            </a:pPr>
            <a:r>
              <a:t>DeepHAR-MLOps | CMPE Project |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Smartphones already collect accelerometer and gyroscope signals.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HAR can support fitness tracking, fall-risk research, elderly care, and context-aware apps.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Sensor-only prediction avoids GPS, camera, microphone, and manual user labels.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62D4E"/>
                </a:solidFill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D2DC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978"/>
                </a:solidFill>
              </a:defRPr>
            </a:pPr>
            <a:r>
              <a:t>DeepHAR-MLOps | CMPE Project |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Input: 2.56-second IMU window with 128 timesteps and 9 channels.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Output: one of six activities: walking, stairs up/down, sitting, standing, laying.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Goal: train models that generalize to unseen subjects, not just random windows.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62D4E"/>
                </a:solidFill>
              </a:defRPr>
            </a:pPr>
            <a:r>
              <a:t>Dataset and Preprocessing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D2DC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978"/>
                </a:solidFill>
              </a:defRPr>
            </a:pPr>
            <a:r>
              <a:t>DeepHAR-MLOps | CMPE Project |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UCI Human Activity Recognition dataset with waist-mounted smartphone signals.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Subject-based train/test split prevents person-level leakage.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Per-channel z-score normalizer is fitted on training data only.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Training saves a reference signal profile for inference-time drift checks.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62D4E"/>
                </a:solidFill>
              </a:defRPr>
            </a:pPr>
            <a:r>
              <a:t>End-to-End MLOps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D2DC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978"/>
                </a:solidFill>
              </a:defRPr>
            </a:pPr>
            <a:r>
              <a:t>DeepHAR-MLOps | CMPE Project |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40280"/>
            <a:ext cx="132588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C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162D4E"/>
                </a:solidFill>
              </a:defRPr>
            </a:pPr>
            <a:r>
              <a:t>Download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395728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C72B6"/>
                </a:solidFill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48840" y="2240280"/>
            <a:ext cx="132588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C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162D4E"/>
                </a:solidFill>
              </a:defRPr>
            </a:pPr>
            <a:r>
              <a:t>Normalize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395728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C72B6"/>
                </a:solidFill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4760" y="2240280"/>
            <a:ext cx="132588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C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162D4E"/>
                </a:solidFill>
              </a:defRPr>
            </a:pPr>
            <a: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395728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C72B6"/>
                </a:solidFill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240280"/>
            <a:ext cx="132588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C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162D4E"/>
                </a:solidFill>
              </a:defRPr>
            </a:pPr>
            <a:r>
              <a:t>Evaluate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395728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C72B6"/>
                </a:solidFill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2240280"/>
            <a:ext cx="132588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C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162D4E"/>
                </a:solidFill>
              </a:defRPr>
            </a:pPr>
            <a:r>
              <a:t>Track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395728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C72B6"/>
                </a:solidFill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32520" y="2240280"/>
            <a:ext cx="132588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C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162D4E"/>
                </a:solidFill>
              </a:defRPr>
            </a:pPr>
            <a:r>
              <a:t>Deploy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395728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C72B6"/>
                </a:solidFill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78440" y="2240280"/>
            <a:ext cx="132588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2C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162D4E"/>
                </a:solidFill>
              </a:defRPr>
            </a:pPr>
            <a:r>
              <a:t>Monitor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794760"/>
            <a:ext cx="10515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Training saves checkpoint, normalizer, metrics, plots, model summary, and reference drift profile.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Inference website returns prediction, confidence, probabilities, sensor plot, prompt explanation, and drift status.</a:t>
            </a:r>
          </a:p>
          <a:p>
            <a:pPr>
              <a:spcAft>
                <a:spcPts val="800"/>
              </a:spcAft>
              <a:defRPr sz="1800">
                <a:solidFill>
                  <a:srgbClr val="282828"/>
                </a:solidFill>
              </a:defRPr>
            </a:pPr>
            <a:r>
              <a:t>CI, Docker, TensorBoard/MLflow hooks, and artifact manifest support reproducibility.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62D4E"/>
                </a:solidFill>
              </a:defRPr>
            </a:pPr>
            <a:r>
              <a:t>Model Families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D2DC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978"/>
                </a:solidFill>
              </a:defRPr>
            </a:pPr>
            <a:r>
              <a:t>DeepHAR-MLOps | CMPE Project | 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25880"/>
            <a:ext cx="521208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1E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2C72B6"/>
                </a:solidFill>
              </a:defRPr>
            </a:pPr>
            <a:r>
              <a:t>Baselines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4617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MLP: nonlinear baseline without temporal bias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1D CNN: local movement motifs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CNN-LSTM: convolutional features plus sequence memory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25880"/>
            <a:ext cx="5212080" cy="4892040"/>
          </a:xfrm>
          <a:prstGeom prst="roundRect">
            <a:avLst/>
          </a:prstGeom>
          <a:solidFill>
            <a:srgbClr val="FFFFFF"/>
          </a:solidFill>
          <a:ln>
            <a:solidFill>
              <a:srgbClr val="E1E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59" y="155448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2C72B6"/>
                </a:solidFill>
              </a:defRPr>
            </a:pPr>
            <a:r>
              <a:t>Advanced 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148840"/>
            <a:ext cx="4617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TCN: residual dilated temporal convolutions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CNN-BiLSTM-Attention: bidirectional sequence context</a:t>
            </a:r>
          </a:p>
          <a:p>
            <a:pPr>
              <a:spcAft>
                <a:spcPts val="800"/>
              </a:spcAft>
              <a:defRPr sz="1600">
                <a:solidFill>
                  <a:srgbClr val="282828"/>
                </a:solidFill>
              </a:defRPr>
            </a:pPr>
            <a:r>
              <a:t>Sensor Transformer: self-attention plus positional embeddings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62D4E"/>
                </a:solidFill>
              </a:defRPr>
            </a:pPr>
            <a:r>
              <a:t>Foundation Model / Prompting Connection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D2DC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978"/>
                </a:solidFill>
              </a:defRPr>
            </a:pPr>
            <a:r>
              <a:t>DeepHAR-MLOps | CMPE Project |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Sensor-transformer adds a foundation-model-inspired encoder for time-series windows.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Prompt layer turns prediction context into an LLM-ready system/user prompt.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Deterministic fallback explanation keeps the demo reproducible without API keys.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Prompt includes confidence, top probabilities, sensor stats, caveat, and reliability next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62D4E"/>
                </a:solidFill>
              </a:defRPr>
            </a:pPr>
            <a:r>
              <a:t>Baseline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F6978"/>
                </a:solidFill>
              </a:defRPr>
            </a:pPr>
            <a:r>
              <a:t>UCI HAR subject-based test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D2DC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73952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978"/>
                </a:solidFill>
              </a:defRPr>
            </a:pPr>
            <a:r>
              <a:t>DeepHAR-MLOps | CMPE Project | 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5394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8740"/>
                <a:gridCol w="1348740"/>
                <a:gridCol w="1348740"/>
                <a:gridCol w="134874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62D4E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62D4E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62D4E"/>
                          </a:solidFill>
                        </a:defRPr>
                      </a:pPr>
                      <a:r>
                        <a:t>Macro F1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62D4E"/>
                          </a:solidFill>
                        </a:defRPr>
                      </a:pPr>
                      <a:r>
                        <a:t>Train time</a:t>
                      </a:r>
                    </a:p>
                  </a:txBody>
                  <a:tcPr>
                    <a:solidFill>
                      <a:srgbClr val="E6EE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2828"/>
                          </a:solidFill>
                        </a:defRPr>
                      </a:pPr>
                      <a:r>
                        <a:t>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2828"/>
                          </a:solidFill>
                        </a:defRPr>
                      </a:pPr>
                      <a:r>
                        <a:t>91.38%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2828"/>
                          </a:solidFill>
                        </a:defRPr>
                      </a:pPr>
                      <a:r>
                        <a:t>0.9135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2828"/>
                          </a:solidFill>
                        </a:defRPr>
                      </a:pPr>
                      <a:r>
                        <a:t>82s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2828"/>
                          </a:solidFill>
                        </a:defRPr>
                      </a:pPr>
                      <a:r>
                        <a:t>CNN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2828"/>
                          </a:solidFill>
                        </a:defRPr>
                      </a:pPr>
                      <a:r>
                        <a:t>91.79%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2828"/>
                          </a:solidFill>
                        </a:defRPr>
                      </a:pPr>
                      <a:r>
                        <a:t>0.9189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2828"/>
                          </a:solidFill>
                        </a:defRPr>
                      </a:pPr>
                      <a:r>
                        <a:t>529s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2828"/>
                          </a:solidFill>
                        </a:defRPr>
                      </a:pPr>
                      <a:r>
                        <a:t>CNN-LSTM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2828"/>
                          </a:solidFill>
                        </a:defRPr>
                      </a:pPr>
                      <a:r>
                        <a:t>93.25%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2828"/>
                          </a:solidFill>
                        </a:defRPr>
                      </a:pPr>
                      <a:r>
                        <a:t>0.9335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82828"/>
                          </a:solidFill>
                        </a:defRPr>
                      </a:pPr>
                      <a:r>
                        <a:t>829s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baseline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34440"/>
            <a:ext cx="5120640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3749039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Takeaway: sequence-aware CNN-LSTM improves over flattened MLP. Final work should compare TCN, attention, and sensor-transformer under the same split.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62D4E"/>
                </a:solidFill>
              </a:defRPr>
            </a:pPr>
            <a:r>
              <a:t>Experiments and Ablations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D2DC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978"/>
                </a:solidFill>
              </a:defRPr>
            </a:pPr>
            <a:r>
              <a:t>DeepHAR-MLOps | CMPE Project |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Architecture comparison: MLP, CNN, CNN-LSTM, TCN, attention, sensor-transformer.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Sensor ablation: all sensors vs body accelerometer vs gyroscope vs total acceleration.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Augmentation ablation: no augmentation vs jitter/scaling/time masking.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Sweep: learning rate and batch size; report macro F1, latency, and parameter count.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62D4E"/>
                </a:solidFill>
              </a:defRPr>
            </a:pPr>
            <a:r>
              <a:t>Error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D2DC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978"/>
                </a:solidFill>
              </a:defRPr>
            </a:pPr>
            <a:r>
              <a:t>DeepHAR-MLOps | CMPE Project |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Expected major confusion: SITTING vs STANDING due to similar low-motion patterns.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Walking classes are easier because periodic motion creates clearer temporal signatures.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Use normalized confusion matrix and per-class F1 to identify weak classes.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62D4E"/>
                </a:solidFill>
              </a:defRPr>
            </a:pPr>
            <a:r>
              <a:t>MLOps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D2DC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978"/>
                </a:solidFill>
              </a:defRPr>
            </a:pPr>
            <a:r>
              <a:t>DeepHAR-MLOps | CMPE Project |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Reusable CLIs for training, evaluation, inference, ablations, and sweeps.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TensorBoard and optional MLflow tracking.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Dockerfile, GitHub Actions, Makefile, DVC-style pipeline, artifact manifest.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Reference drift profile supports monitoring and retraining discussion.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62D4E"/>
                </a:solidFill>
              </a:defRPr>
            </a:pPr>
            <a:r>
              <a:t>Gradio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D2DC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978"/>
                </a:solidFill>
              </a:defRPr>
            </a:pPr>
            <a:r>
              <a:t>DeepHAR-MLOps | CMPE Project |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Upload CSV/NPY or use the included sample window.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Show predicted activity, confidence, probabilities, and sensor-signal plot.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Show prompt-engineered explanation and the exact LLM prompt artifact.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Show drift-monitoring status for production-readiness narrative.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62D4E"/>
                </a:solidFill>
              </a:defRPr>
            </a:pPr>
            <a:r>
              <a:t>Team Contributions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D2DC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978"/>
                </a:solidFill>
              </a:defRPr>
            </a:pPr>
            <a:r>
              <a:t>DeepHAR-MLOps | CMPE Project |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Vineeth: model architectures, training pipeline, metric interpretation.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Siddharth: MLOps structure, Docker, CI, MLflow/TensorBoard, deployment plan.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Arshan: Gradio app, inference UX, prompt explanation display, demo flow.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Soham: ablations, sweeps, visualizations, report, slides, error analysis.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62D4E"/>
                </a:solidFill>
              </a:defRPr>
            </a:pPr>
            <a:r>
              <a:t>Conclusion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6446520"/>
            <a:ext cx="11155680" cy="9144"/>
          </a:xfrm>
          <a:prstGeom prst="rect">
            <a:avLst/>
          </a:prstGeom>
          <a:solidFill>
            <a:srgbClr val="D2DCE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978"/>
                </a:solidFill>
              </a:defRPr>
            </a:pPr>
            <a:r>
              <a:t>DeepHAR-MLOps | CMPE Project |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Sequence-aware models improve HAR over a flattened baseline.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The repo is now a runnable MLOps project rather than a Colab-only artifact.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Before final submission: run final ablations/sweeps, add screenshots, record videos, publish GitHub URL.</a:t>
            </a:r>
          </a:p>
          <a:p>
            <a:pPr>
              <a:spcAft>
                <a:spcPts val="1000"/>
              </a:spcAft>
              <a:defRPr sz="1900">
                <a:solidFill>
                  <a:srgbClr val="282828"/>
                </a:solidFill>
              </a:defRPr>
            </a:pPr>
            <a:r>
              <a:t>Future: cloud pipeline, drift-triggered retraining, real-time mobile inference, phone-placement robustness.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